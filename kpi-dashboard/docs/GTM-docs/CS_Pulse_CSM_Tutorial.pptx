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Daily Command Center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Manager Quick Start Guide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286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purpose-built layouts for your daily workflow. Process actions sequentially or manage your portfolio visually. AI handles the analysis — you focus on relationships.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502920"/>
            <a:ext cx="2926080" cy="2377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502920"/>
            <a:ext cx="64008" cy="2377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640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 MANAGER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Command Center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280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prioritized actions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health deep-dives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execution &amp; tracking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triage &amp; notifications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drafts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219456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52044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  Focus 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task queue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3520440"/>
            <a:ext cx="219456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17520" y="352044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▦  Cockpit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workflow 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 /dc-dashboard/csm  to access this 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Task Queue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Superhuman — one action at a time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31520" cy="347472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73152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783080"/>
            <a:ext cx="4572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83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26791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1480" y="3063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33192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39593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280160" y="1005840"/>
            <a:ext cx="4572000" cy="3474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80160" y="1005840"/>
            <a:ext cx="64008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1 OF 10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74720" y="1097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    Next →    Skip    Snooze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087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Analytics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389120" y="1444752"/>
            <a:ext cx="640080" cy="2286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14447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1463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08760" y="1828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retention review — health dropped 16 points in 90 days. Silent churn pattern detected. Champion departed Q1.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0" y="2468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PB-05 Emergency Retention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08760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0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2980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Hours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0" y="2980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08760" y="32369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Risk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26080" y="32369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08760" y="3493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926080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 protected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08760" y="3840480"/>
            <a:ext cx="16459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150876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Playbook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37560" y="3840480"/>
            <a:ext cx="128016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Email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840480"/>
            <a:ext cx="91440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1005840"/>
            <a:ext cx="2834640" cy="3474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1792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35040" y="1371600"/>
            <a:ext cx="2834640" cy="34747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7" name="Shape 45"/>
          <p:cNvSpPr/>
          <p:nvPr/>
        </p:nvSpPr>
        <p:spPr>
          <a:xfrm>
            <a:off x="6035040" y="1371600"/>
            <a:ext cx="4572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14081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92440" y="146304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14081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17920" y="17922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92240" y="1792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92440" y="18470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0" y="17922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17920" y="21762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92240" y="2176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EdTech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092440" y="223113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8229600" y="21762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217920" y="25603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922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TechGrid Corp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92440" y="26151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25603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217920" y="29443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92240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Dynamics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092440" y="29992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8229600" y="29443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217920" y="332841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92240" y="33284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Labs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092440" y="33832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1" name="Text 69"/>
          <p:cNvSpPr/>
          <p:nvPr/>
        </p:nvSpPr>
        <p:spPr>
          <a:xfrm>
            <a:off x="8229600" y="3328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217920" y="371246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492240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Data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092440" y="376732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0" y="37124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65760" y="461772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7" name="Shape 75"/>
          <p:cNvSpPr/>
          <p:nvPr/>
        </p:nvSpPr>
        <p:spPr>
          <a:xfrm>
            <a:off x="365760" y="4617720"/>
            <a:ext cx="54864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8" name="Text 76"/>
          <p:cNvSpPr/>
          <p:nvPr/>
        </p:nvSpPr>
        <p:spPr>
          <a:xfrm>
            <a:off x="64008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your highest-impact actions one at a time — never wonder what to do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Kanban Workflow 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Linear — full visual portfolio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50292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FIRE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252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urgency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269748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673352"/>
            <a:ext cx="4572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673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8928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  |  Silent churn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" y="2167128"/>
            <a:ext cx="118872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167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269748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724912"/>
            <a:ext cx="457200" cy="1828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724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2944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$3.8M  |  Champion departed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" y="3218688"/>
            <a:ext cx="118872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218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1005840"/>
            <a:ext cx="2697480" cy="50292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4" name="Text 22"/>
          <p:cNvSpPr/>
          <p:nvPr/>
        </p:nvSpPr>
        <p:spPr>
          <a:xfrm>
            <a:off x="3355848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THIS WEEK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5848" y="1252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urgency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1600200"/>
            <a:ext cx="269748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5584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EdTech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1673352"/>
            <a:ext cx="457200" cy="1828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1673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55848" y="18928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$4.2M  |  QBR overdue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55848" y="2167128"/>
            <a:ext cx="118872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2" name="Text 30"/>
          <p:cNvSpPr/>
          <p:nvPr/>
        </p:nvSpPr>
        <p:spPr>
          <a:xfrm>
            <a:off x="3355848" y="2167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Playbook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2651760"/>
            <a:ext cx="269748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55848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TechGrid Corp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49240" y="2724912"/>
            <a:ext cx="457200" cy="1828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2724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55848" y="2944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 |  Deployment stall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55848" y="3218688"/>
            <a:ext cx="118872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9" name="Text 37"/>
          <p:cNvSpPr/>
          <p:nvPr/>
        </p:nvSpPr>
        <p:spPr>
          <a:xfrm>
            <a:off x="3355848" y="3218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Playbook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26480" y="1005840"/>
            <a:ext cx="2697480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1" name="Text 39"/>
          <p:cNvSpPr/>
          <p:nvPr/>
        </p:nvSpPr>
        <p:spPr>
          <a:xfrm>
            <a:off x="6236208" y="1024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OPPORTUNITY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36208" y="1252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26480" y="1600200"/>
            <a:ext cx="269748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3620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Dynamics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1673352"/>
            <a:ext cx="457200" cy="1828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0" y="1673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36208" y="18928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$6.1M  |  Expansion ready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36208" y="2167128"/>
            <a:ext cx="118872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9" name="Text 47"/>
          <p:cNvSpPr/>
          <p:nvPr/>
        </p:nvSpPr>
        <p:spPr>
          <a:xfrm>
            <a:off x="6236208" y="2167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Proposal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26480" y="2651760"/>
            <a:ext cx="269748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36208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Data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0" y="2724912"/>
            <a:ext cx="457200" cy="1828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0" y="2724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36208" y="2944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$5.4M  |  Usage spike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236208" y="3218688"/>
            <a:ext cx="118872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6" name="Text 54"/>
          <p:cNvSpPr/>
          <p:nvPr/>
        </p:nvSpPr>
        <p:spPr>
          <a:xfrm>
            <a:off x="6236208" y="3218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Proposal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3749040"/>
            <a:ext cx="8503920" cy="5943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48640" y="3794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DRAWER TABS: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8640" y="4023360"/>
            <a:ext cx="1097280" cy="228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920240" y="4023360"/>
            <a:ext cx="109728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2" name="Text 60"/>
          <p:cNvSpPr/>
          <p:nvPr/>
        </p:nvSpPr>
        <p:spPr>
          <a:xfrm>
            <a:off x="192024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91840" y="4023360"/>
            <a:ext cx="109728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4" name="Text 62"/>
          <p:cNvSpPr/>
          <p:nvPr/>
        </p:nvSpPr>
        <p:spPr>
          <a:xfrm>
            <a:off x="329184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63440" y="4023360"/>
            <a:ext cx="109728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6" name="Text 64"/>
          <p:cNvSpPr/>
          <p:nvPr/>
        </p:nvSpPr>
        <p:spPr>
          <a:xfrm>
            <a:off x="466344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035040" y="4023360"/>
            <a:ext cx="109728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8" name="Text 66"/>
          <p:cNvSpPr/>
          <p:nvPr/>
        </p:nvSpPr>
        <p:spPr>
          <a:xfrm>
            <a:off x="603504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406640" y="4023360"/>
            <a:ext cx="109728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0" name="Text 68"/>
          <p:cNvSpPr/>
          <p:nvPr/>
        </p:nvSpPr>
        <p:spPr>
          <a:xfrm>
            <a:off x="740664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65760" y="452628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2" name="Shape 70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3" name="Text 71"/>
          <p:cNvSpPr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entire portfolio in one visual board — click any card to open the contextual drawer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DEEP-DIVE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Account Context in One Click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2377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Analytics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508760" y="1481328"/>
            <a:ext cx="640080" cy="20116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4813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5-PILLAR BREAKDOWN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Adoption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2212848"/>
            <a:ext cx="1097280" cy="10972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3" name="Shape 11"/>
          <p:cNvSpPr/>
          <p:nvPr/>
        </p:nvSpPr>
        <p:spPr>
          <a:xfrm>
            <a:off x="1783080" y="2212848"/>
            <a:ext cx="416966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194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2414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Experience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83080" y="2432304"/>
            <a:ext cx="1097280" cy="10972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83080" y="2432304"/>
            <a:ext cx="493776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24140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6334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Support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2651760"/>
            <a:ext cx="1097280" cy="10972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1" name="Shape 19"/>
          <p:cNvSpPr/>
          <p:nvPr/>
        </p:nvSpPr>
        <p:spPr>
          <a:xfrm>
            <a:off x="1783080" y="2651760"/>
            <a:ext cx="57058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26334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28529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Engagement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83080" y="2871216"/>
            <a:ext cx="1097280" cy="10972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5" name="Shape 23"/>
          <p:cNvSpPr/>
          <p:nvPr/>
        </p:nvSpPr>
        <p:spPr>
          <a:xfrm>
            <a:off x="1783080" y="2871216"/>
            <a:ext cx="38404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28529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30723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Outcomes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783080" y="3090672"/>
            <a:ext cx="1097280" cy="10972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9" name="Shape 27"/>
          <p:cNvSpPr/>
          <p:nvPr/>
        </p:nvSpPr>
        <p:spPr>
          <a:xfrm>
            <a:off x="1783080" y="3090672"/>
            <a:ext cx="438912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0" y="30723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91840" y="1005840"/>
            <a:ext cx="2651760" cy="2377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0" y="1078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37760" y="1097280"/>
            <a:ext cx="777240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09728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Departed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74720" y="1325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0" y="1325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 Chen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7472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0" y="1554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0" y="1783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Contact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0" y="17830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days ago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0" y="2011680"/>
            <a:ext cx="2286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0" y="2331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0" y="23317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74720" y="2560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0" y="2560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15,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474720" y="2788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0" y="2788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26480" y="1005840"/>
            <a:ext cx="2743200" cy="2377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1005840"/>
            <a:ext cx="64008" cy="2377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1078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SIGNALS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355080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6537960" y="13533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decline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955280" y="1353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537960" y="15179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score dropped 12pts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355080" y="177393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6537960" y="17373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loss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955280" y="17373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37960" y="1901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 departed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355080" y="21579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6537960" y="21214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spike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955280" y="2121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537960" y="22860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P1 tickets in 2 weeks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355080" y="254203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3"/>
          <p:cNvSpPr/>
          <p:nvPr/>
        </p:nvSpPr>
        <p:spPr>
          <a:xfrm>
            <a:off x="6537960" y="25054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churn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955280" y="25054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01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537960" y="2670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 engagement 45d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355080" y="29260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6537960" y="28895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955280" y="28895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537960" y="30540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flagged for VP review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65760" y="3566160"/>
            <a:ext cx="8503920" cy="7772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48640" y="3630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PLAYBOOKS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8640" y="38587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PB-05 Emergency Retention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8640" y="40416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$1.8M  |  48h  |  Match: 95%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383280" y="38587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PB-SYS-04 Champion Recovery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383280" y="40416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$1.2M  |  24h  |  Match: 88%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217920" y="38587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PB-06 QBR Engagement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217920" y="40416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$900K  |  24h  |  Match: 72%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65760" y="452628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1" name="Shape 79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2" name="Text 80"/>
          <p:cNvSpPr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 context in one click — health, champion, signals, and recommended actions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Signal to Resolution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97480" cy="502920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060704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060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069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80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modal with account health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39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039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details + estimated hours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3865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context and urgency level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7340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7340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launch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7180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46120" y="1005840"/>
            <a:ext cx="269748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005840"/>
            <a:ext cx="2697480" cy="50292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2" name="Shape 20"/>
          <p:cNvSpPr/>
          <p:nvPr/>
        </p:nvSpPr>
        <p:spPr>
          <a:xfrm>
            <a:off x="3355848" y="1060704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1060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1069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1280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progress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1691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1691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tracker on Home 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2039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2039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active since trigger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9000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11880" y="23865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delta (before vs now)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27340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1880" y="27340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(steps completed 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126480" y="1005840"/>
            <a:ext cx="269748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005840"/>
            <a:ext cx="2697480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7" name="Shape 35"/>
          <p:cNvSpPr/>
          <p:nvPr/>
        </p:nvSpPr>
        <p:spPr>
          <a:xfrm>
            <a:off x="6236208" y="1060704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1060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29400" y="1069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29400" y="1280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outcomes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1691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1691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resolved / escalated / timeout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2039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2039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CSM hours spent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2386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23865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protected ($ARR saved)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27340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92240" y="27340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expanded ($ARR upsold)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3749040"/>
            <a:ext cx="8503920" cy="5943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374904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3794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TRACKER: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011680" y="37947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 — PB-05 Emergency Retention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011680" y="4005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of 14  |  Health Δ: +2  |  $1.8M ARR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669280" y="3931920"/>
            <a:ext cx="2926080" cy="10972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5" name="Shape 53"/>
          <p:cNvSpPr/>
          <p:nvPr/>
        </p:nvSpPr>
        <p:spPr>
          <a:xfrm>
            <a:off x="5669280" y="3931920"/>
            <a:ext cx="73152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5669280" y="4069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complete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65760" y="452628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8" name="Shape 56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intervention builds your success story — outcomes feed the ROI engine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TRIAGE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Miss a Critical Signal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503920" cy="4572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URGENT: Drift Analytics health dropped below 50 — champion departed, 29 days to renewal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1005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4114800" cy="2743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64008" cy="2743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19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NOTIFICATIONS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737360"/>
            <a:ext cx="274320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7373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029968"/>
            <a:ext cx="128016" cy="128016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0116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Critical: Drift Analytics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011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2194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dropped to 42 — action required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128016" cy="1280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4688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PB-05 auto-triggered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2468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26517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Retention for Drift Analytics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2944368"/>
            <a:ext cx="128016" cy="128016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260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departed: Relay Healthcare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" y="3108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 Lisa Chen left the company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3401568"/>
            <a:ext cx="128016" cy="128016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383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overdue: Canopy EdTech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49040" y="3383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" y="3566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QBR was 120 days ago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3858768"/>
            <a:ext cx="128016" cy="12801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840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PB-04 recommended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38404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" y="4023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Opportunity for Apex Dynamics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1645920"/>
            <a:ext cx="4206240" cy="2743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1719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TYPES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011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Decline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21945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pillar drops below threshold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23957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23957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Loss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25786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 departs company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46320" y="27797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2779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Churn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66360" y="29626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executive engagement for 30+ days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46320" y="31638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66360" y="3163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Threat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33467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evaluation detected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46320" y="35478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3547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Spike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66360" y="37307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support volume increase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46320" y="3931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66360" y="3931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Signal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66360" y="41148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growth + healthy scores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452628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5" name="Shape 53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find you — critical signals surface automatically via banner + notification bell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EMAIL DRAFTS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Emails in 10 Seconds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50392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AUTO-TEMPLATE SELECTION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94360" cy="20116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325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Drop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5361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health review email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594360" cy="201168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50-69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0" y="13258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325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15361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Pre-renewal check-in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594360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70+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13258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1325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15361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 outreach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2011680"/>
            <a:ext cx="502920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011680"/>
            <a:ext cx="64008" cy="2560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084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3591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sarah.johnson@driftanalytics.com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2560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Partnership Health Review — Drift Analytics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2788920"/>
            <a:ext cx="45720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85292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Sarah,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wanted to reach out regarding our partnership. Our platform intelligence has identified some areas where we can provide additional support to help maximize your investment...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Adoption metrics trending below target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Recent leadership transition in your engineering org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ticket volume above normal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like to schedule a 30-minute health review this week to discuss a targeted action plan.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77840" y="2011680"/>
            <a:ext cx="329184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2084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60720" y="2377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2560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health score, signals, champion status, ARR, and renewal date into the draft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0720" y="27980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Auto-Template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29809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health_drop, renewal, or expansion based on current account health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60720" y="32186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Editable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3401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customize subject and body before sending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60720" y="36393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Actions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60720" y="38221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to clipboard or open directly in your mail client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60720" y="40599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60720" y="4242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contextual, professional prose — not canned templates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470916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4709160"/>
            <a:ext cx="54864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context-aware emails in 10 seconds — not canned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RENEWALS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Momentum, Spot Risk Early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21945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HEALTH TRAJECTORY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40280" y="1325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834640" y="1325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29000" y="1325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23360" y="1325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617720" y="1325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9164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8600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8036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6908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1554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↓-16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1856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91640" y="1856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86000" y="1856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80360" y="1856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0" y="1856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69080" y="1856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3440" y="1856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1856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↓-8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2157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Dynamics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9164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600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8036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7472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6908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0" y="21579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↑+8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" y="2459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Data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91640" y="2459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86000" y="2459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880360" y="2459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74720" y="2459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69080" y="2459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63440" y="2459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0" y="2459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↑+7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Labs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9164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28600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88036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7472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6908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6344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46320" y="2761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↑+3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" y="29260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&lt; 50  |  At Risk 50-69  |  Healthy 70+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577840" y="1005840"/>
            <a:ext cx="3291840" cy="21945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760720" y="1078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RENEWALS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6072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863840" y="1417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60720" y="1618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days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66560" y="1618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42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760720" y="1801368"/>
            <a:ext cx="2834640" cy="5486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1" name="Shape 59"/>
          <p:cNvSpPr/>
          <p:nvPr/>
        </p:nvSpPr>
        <p:spPr>
          <a:xfrm>
            <a:off x="5760720" y="1801368"/>
            <a:ext cx="2149602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5760720" y="1920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63840" y="19202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$3.8M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760720" y="2121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 days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66560" y="2121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56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760720" y="2304288"/>
            <a:ext cx="2834640" cy="5486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7" name="Shape 65"/>
          <p:cNvSpPr/>
          <p:nvPr/>
        </p:nvSpPr>
        <p:spPr>
          <a:xfrm>
            <a:off x="5760720" y="2304288"/>
            <a:ext cx="1251966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8" name="Text 66"/>
          <p:cNvSpPr/>
          <p:nvPr/>
        </p:nvSpPr>
        <p:spPr>
          <a:xfrm>
            <a:off x="5760720" y="2423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Dynamics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863840" y="24231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$6.1M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60720" y="2624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 days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766560" y="26243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78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760720" y="2807208"/>
            <a:ext cx="2834640" cy="54864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3" name="Shape 71"/>
          <p:cNvSpPr/>
          <p:nvPr/>
        </p:nvSpPr>
        <p:spPr>
          <a:xfrm>
            <a:off x="5760720" y="2807208"/>
            <a:ext cx="9448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4" name="Shape 72"/>
          <p:cNvSpPr/>
          <p:nvPr/>
        </p:nvSpPr>
        <p:spPr>
          <a:xfrm>
            <a:off x="365760" y="3383280"/>
            <a:ext cx="850392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48640" y="3456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PORTFOLIO SUMMARY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8640" y="3703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965960" y="3703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96596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$17.5M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3383280" y="3703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Health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38328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65.2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4800600" y="3703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80060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217920" y="3703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21792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7635240" y="37033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63524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365760" y="443484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9" name="Shape 87"/>
          <p:cNvSpPr/>
          <p:nvPr/>
        </p:nvSpPr>
        <p:spPr>
          <a:xfrm>
            <a:off x="365760" y="4434840"/>
            <a:ext cx="54864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0" name="Text 88"/>
          <p:cNvSpPr/>
          <p:nvPr/>
        </p:nvSpPr>
        <p:spPr>
          <a:xfrm>
            <a:off x="64008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account momentum — spot risk before it becomes churn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Account Co-Pilot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 CAN 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grounded in live account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1280160" cy="20116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story for Drift Analytics?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167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Relay Healthcare's health drop?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4140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the context graph for Canopy EdTech.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743200"/>
            <a:ext cx="1280160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43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017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playbook should I run for Drift?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2644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2644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my last intervention perform?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5112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511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projected ROI of PB-05?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794760"/>
            <a:ext cx="155448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069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QBR prep email for Summit Data.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3159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4315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escalation note for my VP.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5628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4562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Relay's signals for my 1:1.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005840"/>
            <a:ext cx="4206240" cy="2377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05840"/>
            <a:ext cx="64008" cy="2377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RESPONSE EXAMPLE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13716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"What's the story for Drift Analytics?"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16459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Pulse analyzed 23 signals, 5 decisions, and 3 outcomes across the context graph...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 is in a Silent Churn pattern. Health declined 16 points over 90 days driven by: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Champion departure (VP Engineering, Mar 28)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Adoption score drop to 38 (-12pts)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P1 support tickets in 14 days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PB-05 Emergency Retention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$1.8M ARR protected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92040" y="3063240"/>
            <a:ext cx="374904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signals  |  5 decisions  |  3 outcomes  |  3 tools used  |  1.2s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63440" y="3520440"/>
            <a:ext cx="420624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46320" y="3593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FOLLOW-UPS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3858768"/>
            <a:ext cx="384048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858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the causal chain for the champion loss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4133088"/>
            <a:ext cx="384048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4133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 escalation email to my VP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4407408"/>
            <a:ext cx="3840480" cy="2286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4407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we don't intervene?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4846320"/>
            <a:ext cx="8503920" cy="27432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49" name="Shape 47"/>
          <p:cNvSpPr/>
          <p:nvPr/>
        </p:nvSpPr>
        <p:spPr>
          <a:xfrm>
            <a:off x="365760" y="4846320"/>
            <a:ext cx="54864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about any account — AI does the analysis, you make the call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Pulse - CSM: Your Daily Command Center</dc:title>
  <dc:subject>PptxGenJS Presentation</dc:subject>
  <dc:creator>CS Pulse</dc:creator>
  <cp:lastModifiedBy>CS Pulse</cp:lastModifiedBy>
  <cp:revision>1</cp:revision>
  <dcterms:created xsi:type="dcterms:W3CDTF">2026-04-16T17:42:01Z</dcterms:created>
  <dcterms:modified xsi:type="dcterms:W3CDTF">2026-04-16T17:42:01Z</dcterms:modified>
</cp:coreProperties>
</file>