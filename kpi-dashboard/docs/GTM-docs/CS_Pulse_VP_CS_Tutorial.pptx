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 PULSE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Portfolio Intelligence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Customer Success Quick Start Guide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2286000" cy="3657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42316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command center for portfolio health, team performance, playbook ROI, and renewal governance. Every metric traces back to causal evidence.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0" y="502920"/>
            <a:ext cx="2926080" cy="237744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43600" y="502920"/>
            <a:ext cx="64008" cy="23774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6263640" y="6400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 CUSTOMER SUCCESS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63640" y="9144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Portfolio Intelligence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63640" y="128016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health &amp; NRR accountability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performance &amp; capacity planning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 ROI &amp; success metrics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approval workflows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3520440"/>
            <a:ext cx="2011680" cy="82296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" y="358444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85800" y="376732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2834640" y="3520440"/>
            <a:ext cx="2011680" cy="82296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71800" y="358444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ARR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971800" y="376732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$48.5M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5120640" y="3520440"/>
            <a:ext cx="2011680" cy="82296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257800" y="358444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NRR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257800" y="376732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105%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0" y="5084064"/>
            <a:ext cx="9144000" cy="5486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709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 /dc-dashboard/vpcs  to access this view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OVERVIEW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Portfolio Health at a Glance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943600" y="457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 /dc-dashboard/vpcs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1965960" cy="96012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" y="111556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ACCOUNTS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475488" y="12984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75488" y="166420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in portfolio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514600" y="1051560"/>
            <a:ext cx="1965960" cy="96012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24328" y="111556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HEALTH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2624328" y="12984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65.2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624328" y="166420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weighted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663440" y="1051560"/>
            <a:ext cx="1965960" cy="96012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73168" y="111556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PLAYBOOK COMPLETION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773168" y="12984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773168" y="166420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runs closed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812280" y="1051560"/>
            <a:ext cx="1965960" cy="96012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922008" y="111556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RENEWALS (90D)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6922008" y="12984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$21.6M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922008" y="166420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accounts renewing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65760" y="2194560"/>
            <a:ext cx="4937760" cy="201168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48640" y="22860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DISTRIBUTION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8640" y="2606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645920" y="26060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accts  |  $19.5M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114800" y="260604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2825496"/>
            <a:ext cx="4480560" cy="128016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28" name="Shape 26"/>
          <p:cNvSpPr/>
          <p:nvPr/>
        </p:nvSpPr>
        <p:spPr>
          <a:xfrm>
            <a:off x="548640" y="2825496"/>
            <a:ext cx="1805026" cy="12801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310896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Risk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645920" y="31089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accts  |  $27.2M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114800" y="310896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60%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" y="3328416"/>
            <a:ext cx="4480560" cy="128016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33" name="Shape 31"/>
          <p:cNvSpPr/>
          <p:nvPr/>
        </p:nvSpPr>
        <p:spPr>
          <a:xfrm>
            <a:off x="548640" y="3328416"/>
            <a:ext cx="1267358" cy="128016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" y="361188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645920" y="36118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acct  |  $1.8M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114800" y="361188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10%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48640" y="3831336"/>
            <a:ext cx="4480560" cy="128016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38" name="Shape 36"/>
          <p:cNvSpPr/>
          <p:nvPr/>
        </p:nvSpPr>
        <p:spPr>
          <a:xfrm>
            <a:off x="548640" y="3831336"/>
            <a:ext cx="768096" cy="12801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9" name="Shape 37"/>
          <p:cNvSpPr/>
          <p:nvPr/>
        </p:nvSpPr>
        <p:spPr>
          <a:xfrm>
            <a:off x="5486400" y="2194560"/>
            <a:ext cx="3383280" cy="201168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5669280" y="22860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STATS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669280" y="260604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989320" y="26060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Resolution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680960" y="26060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3.8 days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669280" y="295351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989320" y="295351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 Success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680960" y="295351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669280" y="3300984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989320" y="3300984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NPS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680960" y="330098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669280" y="3648456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989320" y="364845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Completed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7680960" y="3648456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365760" y="4434840"/>
            <a:ext cx="8503920" cy="36576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54" name="Shape 52"/>
          <p:cNvSpPr/>
          <p:nvPr/>
        </p:nvSpPr>
        <p:spPr>
          <a:xfrm>
            <a:off x="365760" y="4434840"/>
            <a:ext cx="54864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5" name="Text 53"/>
          <p:cNvSpPr/>
          <p:nvPr/>
        </p:nvSpPr>
        <p:spPr>
          <a:xfrm>
            <a:off x="640080" y="4434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screen, four answers: How many? How healthy? What's working? What's renewing?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PERFORMANCE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CSM Scorecard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5669280" cy="256032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07899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CSM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463040" y="10789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Accts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965960" y="107899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2606040" y="107899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Δ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200400" y="107899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474720" y="1078992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3749040" y="107899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Playbooks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4434840" y="107899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5029200" y="107899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$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502920" y="1325880"/>
            <a:ext cx="5394960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1417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 Chen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463040" y="1417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965960" y="141732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$16.9M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606040" y="14173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+2.8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00400" y="1417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474720" y="1417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749040" y="14173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434840" y="14173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029200" y="14173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$340K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02920" y="1737360"/>
            <a:ext cx="539496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18013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Marcus Rivera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463040" y="18013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965960" y="180136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$14.0M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606040" y="1801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+1.5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200400" y="18013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474720" y="18013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749040" y="18013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434840" y="18013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029200" y="18013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$265K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02920" y="2121408"/>
            <a:ext cx="539496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" y="21854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Emily Park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463040" y="218541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965960" y="2185416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$10.5M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606040" y="21854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-2.3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200400" y="2185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474720" y="2185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749040" y="218541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434840" y="21854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029200" y="218541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$110K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02920" y="2505456"/>
            <a:ext cx="539496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6" name="Text 44"/>
          <p:cNvSpPr/>
          <p:nvPr/>
        </p:nvSpPr>
        <p:spPr>
          <a:xfrm>
            <a:off x="502920" y="25694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 Johnson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463040" y="2569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965960" y="2569464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$7.1M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606040" y="25694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+2.0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200400" y="25694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3474720" y="25694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3749040" y="25694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434840" y="256946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029200" y="25694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$195K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217920" y="1005840"/>
            <a:ext cx="2651760" cy="256032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6400800" y="10972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CAPACITY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6400800" y="14173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68%</a:t>
            </a:r>
            <a:endParaRPr lang="en-US" sz="3600" dirty="0"/>
          </a:p>
        </p:txBody>
      </p:sp>
      <p:sp>
        <p:nvSpPr>
          <p:cNvPr id="58" name="Text 56"/>
          <p:cNvSpPr/>
          <p:nvPr/>
        </p:nvSpPr>
        <p:spPr>
          <a:xfrm>
            <a:off x="6400800" y="192024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Utilization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583680" y="2194560"/>
            <a:ext cx="2011680" cy="109728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60" name="Shape 58"/>
          <p:cNvSpPr/>
          <p:nvPr/>
        </p:nvSpPr>
        <p:spPr>
          <a:xfrm>
            <a:off x="6583680" y="2194560"/>
            <a:ext cx="1569110" cy="10972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1" name="Text 59"/>
          <p:cNvSpPr/>
          <p:nvPr/>
        </p:nvSpPr>
        <p:spPr>
          <a:xfrm>
            <a:off x="6492240" y="24688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CSMs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7955280" y="246888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6492240" y="27614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Accts / CSM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7955280" y="276148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2.5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6492240" y="30540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7955280" y="305409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5.0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365760" y="3794760"/>
            <a:ext cx="8503920" cy="36576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68" name="Shape 66"/>
          <p:cNvSpPr/>
          <p:nvPr/>
        </p:nvSpPr>
        <p:spPr>
          <a:xfrm>
            <a:off x="365760" y="3794760"/>
            <a:ext cx="54864" cy="3657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9" name="Text 67"/>
          <p:cNvSpPr/>
          <p:nvPr/>
        </p:nvSpPr>
        <p:spPr>
          <a:xfrm>
            <a:off x="640080" y="37947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who's driving revenue impact — and who needs support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ACTIONS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Your Team Should Do Today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0" y="182880"/>
            <a:ext cx="3383280" cy="50292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6" name="Text 4"/>
          <p:cNvSpPr/>
          <p:nvPr/>
        </p:nvSpPr>
        <p:spPr>
          <a:xfrm>
            <a:off x="5623560" y="20116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= (impact x 0.6 x ARR) - (effort x 0.4)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623560" y="39319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data points → 7 clear actions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960120"/>
            <a:ext cx="8503920" cy="338328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02412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777240" y="102412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2103120" y="102412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4389120" y="102412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Playbook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760720" y="102412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Urgency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6766560" y="10241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406640" y="102412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 Impact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502920" y="1261872"/>
            <a:ext cx="8229600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13533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13533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Analytics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103120" y="13533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retention review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389120" y="13533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PB-DC-03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760720" y="1389888"/>
            <a:ext cx="685800" cy="182880"/>
          </a:xfrm>
          <a:prstGeom prst="rect">
            <a:avLst/>
          </a:prstGeom>
          <a:solidFill>
            <a:srgbClr val="7F1D1D"/>
          </a:solidFill>
          <a:ln/>
        </p:spPr>
      </p:sp>
      <p:sp>
        <p:nvSpPr>
          <p:cNvPr id="22" name="Text 20"/>
          <p:cNvSpPr/>
          <p:nvPr/>
        </p:nvSpPr>
        <p:spPr>
          <a:xfrm>
            <a:off x="5760720" y="138988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6766560" y="13533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8h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406640" y="13533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$1.8M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920" y="1673352"/>
            <a:ext cx="822960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173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77240" y="1737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Healthcare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103120" y="1737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 recovery outreach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389120" y="1737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PB-DC-01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760720" y="1773936"/>
            <a:ext cx="685800" cy="182880"/>
          </a:xfrm>
          <a:prstGeom prst="rect">
            <a:avLst/>
          </a:prstGeom>
          <a:solidFill>
            <a:srgbClr val="7F1D1D"/>
          </a:solidFill>
          <a:ln/>
        </p:spPr>
      </p:sp>
      <p:sp>
        <p:nvSpPr>
          <p:cNvPr id="31" name="Text 29"/>
          <p:cNvSpPr/>
          <p:nvPr/>
        </p:nvSpPr>
        <p:spPr>
          <a:xfrm>
            <a:off x="5760720" y="177393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6766560" y="1737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4h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406640" y="1737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$3.8M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02920" y="2057400"/>
            <a:ext cx="822960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35" name="Text 33"/>
          <p:cNvSpPr/>
          <p:nvPr/>
        </p:nvSpPr>
        <p:spPr>
          <a:xfrm>
            <a:off x="502920" y="2121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77240" y="21214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Canopy EdTech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103120" y="21214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QBR prep + health review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389120" y="21214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PB-DC-04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5760720" y="2157984"/>
            <a:ext cx="685800" cy="182880"/>
          </a:xfrm>
          <a:prstGeom prst="rect">
            <a:avLst/>
          </a:prstGeom>
          <a:solidFill>
            <a:srgbClr val="78350F"/>
          </a:solidFill>
          <a:ln/>
        </p:spPr>
      </p:sp>
      <p:sp>
        <p:nvSpPr>
          <p:cNvPr id="40" name="Text 38"/>
          <p:cNvSpPr/>
          <p:nvPr/>
        </p:nvSpPr>
        <p:spPr>
          <a:xfrm>
            <a:off x="5760720" y="2157984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6766560" y="212140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6h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406640" y="21214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$4.2M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02920" y="2441448"/>
            <a:ext cx="822960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4" name="Text 42"/>
          <p:cNvSpPr/>
          <p:nvPr/>
        </p:nvSpPr>
        <p:spPr>
          <a:xfrm>
            <a:off x="502920" y="25054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77240" y="250545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Stratos Logistics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103120" y="250545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acceleration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389120" y="250545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PB-DC-04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5760720" y="2542032"/>
            <a:ext cx="685800" cy="182880"/>
          </a:xfrm>
          <a:prstGeom prst="rect">
            <a:avLst/>
          </a:prstGeom>
          <a:solidFill>
            <a:srgbClr val="78350F"/>
          </a:solidFill>
          <a:ln/>
        </p:spPr>
      </p:sp>
      <p:sp>
        <p:nvSpPr>
          <p:cNvPr id="49" name="Text 47"/>
          <p:cNvSpPr/>
          <p:nvPr/>
        </p:nvSpPr>
        <p:spPr>
          <a:xfrm>
            <a:off x="5760720" y="2542032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6766560" y="25054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12h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406640" y="25054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$5.8M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02920" y="2825496"/>
            <a:ext cx="822960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3" name="Text 51"/>
          <p:cNvSpPr/>
          <p:nvPr/>
        </p:nvSpPr>
        <p:spPr>
          <a:xfrm>
            <a:off x="502920" y="28895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777240" y="288950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Fintech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2103120" y="288950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opportunity scoring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389120" y="288950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PB-DC-02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5760720" y="2926080"/>
            <a:ext cx="685800" cy="1828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58" name="Text 56"/>
          <p:cNvSpPr/>
          <p:nvPr/>
        </p:nvSpPr>
        <p:spPr>
          <a:xfrm>
            <a:off x="5760720" y="292608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6766560" y="288950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4h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7406640" y="28895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$7.2M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502920" y="3209544"/>
            <a:ext cx="822960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62" name="Text 60"/>
          <p:cNvSpPr/>
          <p:nvPr/>
        </p:nvSpPr>
        <p:spPr>
          <a:xfrm>
            <a:off x="502920" y="32735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777240" y="32735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 Commerce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2103120" y="32735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map refresh (expansion)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4389120" y="32735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PB-DC-02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5760720" y="3310128"/>
            <a:ext cx="685800" cy="1828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7" name="Text 65"/>
          <p:cNvSpPr/>
          <p:nvPr/>
        </p:nvSpPr>
        <p:spPr>
          <a:xfrm>
            <a:off x="5760720" y="331012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6766560" y="32735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3h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7406640" y="32735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$8.2M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502920" y="3593592"/>
            <a:ext cx="822960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71" name="Text 69"/>
          <p:cNvSpPr/>
          <p:nvPr/>
        </p:nvSpPr>
        <p:spPr>
          <a:xfrm>
            <a:off x="502920" y="3657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777240" y="3657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 Enterprise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2103120" y="3657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planning review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4389120" y="36576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PB-DC-02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5760720" y="3694176"/>
            <a:ext cx="685800" cy="18288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6" name="Text 74"/>
          <p:cNvSpPr/>
          <p:nvPr/>
        </p:nvSpPr>
        <p:spPr>
          <a:xfrm>
            <a:off x="5760720" y="369417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700" dirty="0"/>
          </a:p>
        </p:txBody>
      </p:sp>
      <p:sp>
        <p:nvSpPr>
          <p:cNvPr id="77" name="Text 75"/>
          <p:cNvSpPr/>
          <p:nvPr/>
        </p:nvSpPr>
        <p:spPr>
          <a:xfrm>
            <a:off x="6766560" y="3657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4h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7406640" y="3657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$6.5M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365760" y="4434840"/>
            <a:ext cx="8503920" cy="36576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80" name="Shape 78"/>
          <p:cNvSpPr/>
          <p:nvPr/>
        </p:nvSpPr>
        <p:spPr>
          <a:xfrm>
            <a:off x="365760" y="4434840"/>
            <a:ext cx="54864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1" name="Text 79"/>
          <p:cNvSpPr/>
          <p:nvPr/>
        </p:nvSpPr>
        <p:spPr>
          <a:xfrm>
            <a:off x="640080" y="4434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200 data points to 7 clear actions, ranked by dollar impact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RENEWAL PIPELINE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90-Day Revenue at Stake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2651760" cy="86868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11556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RENEWALS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02920" y="162763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90 days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46120" y="1051560"/>
            <a:ext cx="2651760" cy="86868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83280" y="111556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ARR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383280" y="12801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$21.6M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383280" y="162763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renewal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126480" y="1051560"/>
            <a:ext cx="2651760" cy="86868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63640" y="111556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RISK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6263640" y="12801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263640" y="162763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&lt; 70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65760" y="2103120"/>
            <a:ext cx="8503920" cy="219456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02920" y="217627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2103120" y="217627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3063240" y="217627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Renewal Date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206240" y="217627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Left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5029200" y="217627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5760720" y="217627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6766560" y="217627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 Arc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502920" y="2423160"/>
            <a:ext cx="8229600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25146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Healthcare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103120" y="25146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$3.8M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063240" y="25146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15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206240" y="2514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-6d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0" y="251460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56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760720" y="2542032"/>
            <a:ext cx="685800" cy="182880"/>
          </a:xfrm>
          <a:prstGeom prst="rect">
            <a:avLst/>
          </a:prstGeom>
          <a:solidFill>
            <a:srgbClr val="7F1D1D"/>
          </a:solidFill>
          <a:ln/>
        </p:spPr>
      </p:sp>
      <p:sp>
        <p:nvSpPr>
          <p:cNvPr id="32" name="Text 30"/>
          <p:cNvSpPr/>
          <p:nvPr/>
        </p:nvSpPr>
        <p:spPr>
          <a:xfrm>
            <a:off x="5760720" y="2542032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6766560" y="25146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 Sponsor Loss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02920" y="285292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Stratos Logistics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103120" y="285292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$5.8M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063240" y="285292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1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206240" y="285292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029200" y="285292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58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760720" y="2880360"/>
            <a:ext cx="685800" cy="182880"/>
          </a:xfrm>
          <a:prstGeom prst="rect">
            <a:avLst/>
          </a:prstGeom>
          <a:solidFill>
            <a:srgbClr val="7F1D1D"/>
          </a:solidFill>
          <a:ln/>
        </p:spPr>
      </p:sp>
      <p:sp>
        <p:nvSpPr>
          <p:cNvPr id="40" name="Text 38"/>
          <p:cNvSpPr/>
          <p:nvPr/>
        </p:nvSpPr>
        <p:spPr>
          <a:xfrm>
            <a:off x="5760720" y="288036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Risk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6766560" y="28529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Displacement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02920" y="319125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Analytics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103120" y="319125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$1.8M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063240" y="319125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1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206240" y="319125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-51d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029200" y="319125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760720" y="3218688"/>
            <a:ext cx="685800" cy="182880"/>
          </a:xfrm>
          <a:prstGeom prst="rect">
            <a:avLst/>
          </a:prstGeom>
          <a:solidFill>
            <a:srgbClr val="7F1D1D"/>
          </a:solidFill>
          <a:ln/>
        </p:spPr>
      </p:sp>
      <p:sp>
        <p:nvSpPr>
          <p:cNvPr id="48" name="Text 46"/>
          <p:cNvSpPr/>
          <p:nvPr/>
        </p:nvSpPr>
        <p:spPr>
          <a:xfrm>
            <a:off x="5760720" y="3218688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6766560" y="3191256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Churn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02920" y="3529584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Fintech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2103120" y="3529584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$7.2M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3063240" y="3529584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15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206240" y="3529584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55d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029200" y="352958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61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760720" y="3557016"/>
            <a:ext cx="685800" cy="182880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56" name="Text 54"/>
          <p:cNvSpPr/>
          <p:nvPr/>
        </p:nvSpPr>
        <p:spPr>
          <a:xfrm>
            <a:off x="5760720" y="3557016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Risk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6766560" y="352958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Recovery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502920" y="386791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Verdant Media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2103120" y="3867912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$4.8M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3063240" y="38679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1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206240" y="386791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71d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5029200" y="386791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74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5760720" y="3895344"/>
            <a:ext cx="685800" cy="182880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64" name="Text 62"/>
          <p:cNvSpPr/>
          <p:nvPr/>
        </p:nvSpPr>
        <p:spPr>
          <a:xfrm>
            <a:off x="5760720" y="3895344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Healthy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6766560" y="386791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365760" y="4434840"/>
            <a:ext cx="8503920" cy="36576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67" name="Shape 65"/>
          <p:cNvSpPr/>
          <p:nvPr/>
        </p:nvSpPr>
        <p:spPr>
          <a:xfrm>
            <a:off x="365760" y="4434840"/>
            <a:ext cx="54864" cy="3657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8" name="Text 66"/>
          <p:cNvSpPr/>
          <p:nvPr/>
        </p:nvSpPr>
        <p:spPr>
          <a:xfrm>
            <a:off x="640080" y="4434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be surprised by a renewal again — story arcs flag silent churn 60+ days out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PLAYBOOK ROI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Proving What Works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5029200" cy="274320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789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PLAYBOOK SUCCESS RATES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32588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Playbook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828800" y="132588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2423160" y="132588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063240" y="132588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749040" y="132588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Δ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4389120" y="13258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1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 Impact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502920" y="1554480"/>
            <a:ext cx="4754880" cy="18288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164592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Retention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828800" y="16459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423160" y="164592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063240" y="164592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749040" y="164592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+5.0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389120" y="16459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$1.8M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2920" y="201168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 Recovery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828800" y="201168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423160" y="201168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063240" y="201168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749040" y="201168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+4.2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389120" y="201168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$3.8M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2920" y="23774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Discovery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828800" y="23774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423160" y="23774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063240" y="23774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749040" y="23774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+3.8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389120" y="237744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$2.98M + $5.53M pipeline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02920" y="27432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Recovery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828800" y="27432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423160" y="274320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063240" y="274320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749040" y="274320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+2.9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389120" y="27432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$890K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02920" y="31089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828800" y="31089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423160" y="310896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063240" y="310896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749040" y="310896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389120" y="31089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577840" y="1005840"/>
            <a:ext cx="3291840" cy="274320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5577840" y="1005840"/>
            <a:ext cx="64008" cy="2743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6" name="Text 44"/>
          <p:cNvSpPr/>
          <p:nvPr/>
        </p:nvSpPr>
        <p:spPr>
          <a:xfrm>
            <a:off x="5806440" y="10789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BRIDGE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5806440" y="12984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vs Return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806440" y="15727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CSM Hours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635240" y="15727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120 hrs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806440" y="181051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Cost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635240" y="181051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$91K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806440" y="204825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Investment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635240" y="204825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$485K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806440" y="2286000"/>
            <a:ext cx="283464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5" name="Text 53"/>
          <p:cNvSpPr/>
          <p:nvPr/>
        </p:nvSpPr>
        <p:spPr>
          <a:xfrm>
            <a:off x="5806440" y="252374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Protected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7635240" y="252374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$8.3M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806440" y="27614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Expanded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7635240" y="276148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$2.98M (+ $5.53M pipeline)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5806440" y="29992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Return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7635240" y="29992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$11.28M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5806440" y="3236976"/>
            <a:ext cx="2834640" cy="9144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62" name="Text 60"/>
          <p:cNvSpPr/>
          <p:nvPr/>
        </p:nvSpPr>
        <p:spPr>
          <a:xfrm>
            <a:off x="5806440" y="34747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Multiple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7635240" y="347472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23x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365760" y="3977640"/>
            <a:ext cx="8503920" cy="36576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65" name="Shape 63"/>
          <p:cNvSpPr/>
          <p:nvPr/>
        </p:nvSpPr>
        <p:spPr>
          <a:xfrm>
            <a:off x="365760" y="3977640"/>
            <a:ext cx="54864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6" name="Text 64"/>
          <p:cNvSpPr/>
          <p:nvPr/>
        </p:nvSpPr>
        <p:spPr>
          <a:xfrm>
            <a:off x="640080" y="39776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playbook run generates an ROI proof point — traceable to causal evidence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TRENDS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Portfolio Trajectory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651760" cy="91440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06984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IMPROVING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↑ 3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of accounts | $19.5M ARR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46120" y="1005840"/>
            <a:ext cx="2651760" cy="91440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83280" y="106984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STABLE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383280" y="1234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383280" y="157276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of accounts | $15.6M ARR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126480" y="1005840"/>
            <a:ext cx="2651760" cy="91440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63640" y="106984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DECLINING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6263640" y="1234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↓ 4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63640" y="1572768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 of accounts | $13.4M ARR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65760" y="2103120"/>
            <a:ext cx="8503920" cy="219456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" y="21762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6-MONTH HEALTH TRAJECTORY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97280" y="39319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377440" y="39319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657600" y="39319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937760" y="39319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217920" y="39319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498080" y="39319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48640" y="24688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 Commerce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234440" y="24688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514600" y="24688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82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794760" y="24688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85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074920" y="24688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85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355080" y="24688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83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635240" y="246888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83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8229600" y="246888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↑ +3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48640" y="27614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 Fintech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234440" y="276148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51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514600" y="276148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794760" y="276148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52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074920" y="276148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56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355080" y="276148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61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635240" y="276148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61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8229600" y="276148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↑ +10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48640" y="305409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Analytics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234440" y="305409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49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514600" y="305409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48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794760" y="305409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074920" y="305409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43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355080" y="305409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635240" y="3054096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8229600" y="305409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↓ -7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48640" y="334670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Relay Healthcare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234440" y="334670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44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514600" y="334670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46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3794760" y="334670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49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074920" y="334670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52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355080" y="334670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56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7635240" y="3346704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56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8229600" y="334670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↑ +12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48640" y="363931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Fern Health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234440" y="363931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66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2514600" y="363931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68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3794760" y="363931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68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5074920" y="363931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69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6355080" y="363931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69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7635240" y="363931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69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8229600" y="363931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↑ +3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548640" y="3794760"/>
            <a:ext cx="1828800" cy="914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6" name="Text 64"/>
          <p:cNvSpPr/>
          <p:nvPr/>
        </p:nvSpPr>
        <p:spPr>
          <a:xfrm>
            <a:off x="548640" y="38221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&lt; 50   |   At Risk 50-69   |   Healthy 70+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365760" y="4434840"/>
            <a:ext cx="8503920" cy="36576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68" name="Shape 66"/>
          <p:cNvSpPr/>
          <p:nvPr/>
        </p:nvSpPr>
        <p:spPr>
          <a:xfrm>
            <a:off x="365760" y="4434840"/>
            <a:ext cx="54864" cy="3657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69" name="Text 67"/>
          <p:cNvSpPr/>
          <p:nvPr/>
        </p:nvSpPr>
        <p:spPr>
          <a:xfrm>
            <a:off x="640080" y="4434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deterioration 60 days before renewal — threshold crossings trigger automatic alerts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Guardrails &amp; Approval Workflows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503920" cy="164592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789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CONFIDENCE-BASED ROUTING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2560320" cy="1097280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14173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AUTO-EXECUTE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58368" y="16276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≥ 85% confidence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58368" y="18288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proceeds automatically.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Low-risk actions with high certainty.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017520" y="16916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337560" y="1371600"/>
            <a:ext cx="2560320" cy="1097280"/>
          </a:xfrm>
          <a:prstGeom prst="rect">
            <a:avLst/>
          </a:prstGeom>
          <a:solidFill>
            <a:srgbClr val="78350F"/>
          </a:solidFill>
          <a:ln/>
        </p:spPr>
      </p:sp>
      <p:sp>
        <p:nvSpPr>
          <p:cNvPr id="13" name="Text 11"/>
          <p:cNvSpPr/>
          <p:nvPr/>
        </p:nvSpPr>
        <p:spPr>
          <a:xfrm>
            <a:off x="3447288" y="14173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HUMAN REVIEW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47288" y="16276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60-84% confidence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47288" y="18288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Routed to VP CS approval queue.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+ predicted outcome shown.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806440" y="16916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126480" y="1371600"/>
            <a:ext cx="2560320" cy="1097280"/>
          </a:xfrm>
          <a:prstGeom prst="rect">
            <a:avLst/>
          </a:prstGeom>
          <a:solidFill>
            <a:srgbClr val="7F1D1D"/>
          </a:solidFill>
          <a:ln/>
        </p:spPr>
      </p:sp>
      <p:sp>
        <p:nvSpPr>
          <p:cNvPr id="18" name="Text 16"/>
          <p:cNvSpPr/>
          <p:nvPr/>
        </p:nvSpPr>
        <p:spPr>
          <a:xfrm>
            <a:off x="6236208" y="14173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⛔  AUTO-REJECT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36208" y="162763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60% confidence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236208" y="18288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 confidence.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for manual investigation.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65760" y="2834640"/>
            <a:ext cx="4937760" cy="155448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48640" y="29077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320040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 PB-DC-03 triggered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606040" y="32004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566160" y="3218688"/>
            <a:ext cx="640080" cy="164592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26" name="Text 24"/>
          <p:cNvSpPr/>
          <p:nvPr/>
        </p:nvSpPr>
        <p:spPr>
          <a:xfrm>
            <a:off x="3566160" y="321868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Auto-exec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297680" y="320040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2m ago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48640" y="34747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to CRO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606040" y="34747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 Chen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566160" y="3493008"/>
            <a:ext cx="640080" cy="164592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31" name="Text 29"/>
          <p:cNvSpPr/>
          <p:nvPr/>
        </p:nvSpPr>
        <p:spPr>
          <a:xfrm>
            <a:off x="3566160" y="349300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Approved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4297680" y="347472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15m ago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48640" y="37490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reallocation $50K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2606040" y="37490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566160" y="3767328"/>
            <a:ext cx="640080" cy="164592"/>
          </a:xfrm>
          <a:prstGeom prst="rect">
            <a:avLst/>
          </a:prstGeom>
          <a:solidFill>
            <a:srgbClr val="78350F"/>
          </a:solidFill>
          <a:ln/>
        </p:spPr>
      </p:sp>
      <p:sp>
        <p:nvSpPr>
          <p:cNvPr id="36" name="Text 34"/>
          <p:cNvSpPr/>
          <p:nvPr/>
        </p:nvSpPr>
        <p:spPr>
          <a:xfrm>
            <a:off x="3566160" y="37673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Queue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4297680" y="374904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1h ago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48640" y="40233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reassignment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2606040" y="40233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566160" y="4041648"/>
            <a:ext cx="640080" cy="164592"/>
          </a:xfrm>
          <a:prstGeom prst="rect">
            <a:avLst/>
          </a:prstGeom>
          <a:solidFill>
            <a:srgbClr val="7F1D1D"/>
          </a:solidFill>
          <a:ln/>
        </p:spPr>
      </p:sp>
      <p:sp>
        <p:nvSpPr>
          <p:cNvPr id="41" name="Text 39"/>
          <p:cNvSpPr/>
          <p:nvPr/>
        </p:nvSpPr>
        <p:spPr>
          <a:xfrm>
            <a:off x="3566160" y="404164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Rejected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4297680" y="40233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3h ago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5486400" y="2834640"/>
            <a:ext cx="3383280" cy="155448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486400" y="2834640"/>
            <a:ext cx="64008" cy="15544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45" name="Text 43"/>
          <p:cNvSpPr/>
          <p:nvPr/>
        </p:nvSpPr>
        <p:spPr>
          <a:xfrm>
            <a:off x="5715000" y="29077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715000" y="321868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validated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818120" y="321868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15/15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715000" y="344728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coverage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818120" y="344728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94%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715000" y="367588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products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818120" y="367588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5715000" y="390448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accounts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818120" y="390448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715000" y="413308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Out-of-range KPIs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818120" y="413308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65760" y="4526280"/>
            <a:ext cx="8503920" cy="320040"/>
          </a:xfrm>
          <a:prstGeom prst="rect">
            <a:avLst/>
          </a:prstGeom>
          <a:solidFill>
            <a:srgbClr val="1E2D3D"/>
          </a:solidFill>
          <a:ln/>
        </p:spPr>
      </p:sp>
      <p:sp>
        <p:nvSpPr>
          <p:cNvPr id="57" name="Shape 55"/>
          <p:cNvSpPr/>
          <p:nvPr/>
        </p:nvSpPr>
        <p:spPr>
          <a:xfrm>
            <a:off x="365760" y="4526280"/>
            <a:ext cx="54864" cy="3200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58" name="Text 56"/>
          <p:cNvSpPr/>
          <p:nvPr/>
        </p:nvSpPr>
        <p:spPr>
          <a:xfrm>
            <a:off x="640080" y="4526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recommends, you decide — full audit trail for every action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AI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Portfolio Co-Pilot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114800" cy="374904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64008" cy="3749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0789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YOU CAN ASK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3258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→ grounded in live platform data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94360" y="1645920"/>
            <a:ext cx="1097280" cy="201168"/>
          </a:xfrm>
          <a:prstGeom prst="rect">
            <a:avLst/>
          </a:prstGeom>
          <a:solidFill>
            <a:srgbClr val="065F46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6459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94360" y="192024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▸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" y="192024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accounts improved this month?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94360" y="216712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▸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77240" y="216712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me our portfolio NRR trajectory.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" y="2414016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▸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77240" y="241401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total revenue at risk right now?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94360" y="2743200"/>
            <a:ext cx="685800" cy="20116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2743200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94360" y="301752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▸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77240" y="301752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me Sarah's scorecard this quarter.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94360" y="326440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▸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77240" y="326440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CSM has the most at-risk accounts?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4360" y="3511296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▸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7240" y="351129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we over capacity on any CSM?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94360" y="3794760"/>
            <a:ext cx="914400" cy="201168"/>
          </a:xfrm>
          <a:prstGeom prst="rect">
            <a:avLst/>
          </a:prstGeom>
          <a:solidFill>
            <a:srgbClr val="78350F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37947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94360" y="4069080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▸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77240" y="406908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an escalation email for Drift Analytics.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94360" y="4315968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▸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77240" y="43159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playbooks should we run this week?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94360" y="4562856"/>
            <a:ext cx="182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▸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77240" y="456285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me a board-ready CS update.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663440" y="1005840"/>
            <a:ext cx="4206240" cy="210312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846320" y="10789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46320" y="1435608"/>
            <a:ext cx="256032" cy="2011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6" name="Text 34"/>
          <p:cNvSpPr/>
          <p:nvPr/>
        </p:nvSpPr>
        <p:spPr>
          <a:xfrm>
            <a:off x="4846320" y="143560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212080" y="141732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in natural language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212080" y="160020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any question about your portfolio, team, or accounts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846320" y="1847088"/>
            <a:ext cx="256032" cy="2011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0" name="Text 38"/>
          <p:cNvSpPr/>
          <p:nvPr/>
        </p:nvSpPr>
        <p:spPr>
          <a:xfrm>
            <a:off x="4846320" y="184708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212080" y="182880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queries live data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212080" y="201168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calls 40+ MCP tools to gather context graph, health, signals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846320" y="2258568"/>
            <a:ext cx="256032" cy="2011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4" name="Text 42"/>
          <p:cNvSpPr/>
          <p:nvPr/>
        </p:nvSpPr>
        <p:spPr>
          <a:xfrm>
            <a:off x="4846320" y="225856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212080" y="224028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grounded answers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212080" y="242316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traces to a source — no hallucination, full audit trail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846320" y="2670048"/>
            <a:ext cx="256032" cy="2011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8" name="Text 46"/>
          <p:cNvSpPr/>
          <p:nvPr/>
        </p:nvSpPr>
        <p:spPr>
          <a:xfrm>
            <a:off x="4846320" y="2670048"/>
            <a:ext cx="2560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212080" y="2651760"/>
            <a:ext cx="3474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action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212080" y="283464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emails, run playbooks, export reports — all from the same chat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663440" y="3291840"/>
            <a:ext cx="4206240" cy="1463040"/>
          </a:xfrm>
          <a:prstGeom prst="rect">
            <a:avLst/>
          </a:prstGeom>
          <a:solidFill>
            <a:srgbClr val="1E2D3D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663440" y="3291840"/>
            <a:ext cx="64008" cy="14630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3" name="Text 51"/>
          <p:cNvSpPr/>
          <p:nvPr/>
        </p:nvSpPr>
        <p:spPr>
          <a:xfrm>
            <a:off x="4892040" y="34290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 Pulse + Claude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4892040" y="3749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AI Chief of Staff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4892040" y="411480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 MCP tools  |  Context Graph grounded  |  Full audit trail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892040" y="438912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 /dc-dashboard/vpcs  →  Ask AI button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Pulse - VP Customer Success: Portfolio Intelligence</dc:title>
  <dc:subject>PptxGenJS Presentation</dc:subject>
  <dc:creator>CS Pulse</dc:creator>
  <cp:lastModifiedBy>CS Pulse</cp:lastModifiedBy>
  <cp:revision>1</cp:revision>
  <dcterms:created xsi:type="dcterms:W3CDTF">2026-04-16T17:42:01Z</dcterms:created>
  <dcterms:modified xsi:type="dcterms:W3CDTF">2026-04-16T17:42:01Z</dcterms:modified>
</cp:coreProperties>
</file>